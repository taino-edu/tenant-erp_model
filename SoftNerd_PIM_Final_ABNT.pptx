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Taino (30s): Bom dia, banca. Somos o grupo SoftNerd — CardGameStore, sistema cloud-native de gestão para lojas de card games, PIM III.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(50s): A justificativa parte de uma dor real no mercado de TCG brasileiro. Objetivo geral: sistema cloud-native integrado. Quatro objetivos específicos: tempo real, modelagem de dados, LGPD e acessibilidade.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Hugo (55s): 8 requisitos funcionais e 8 não-funcionais. RF cobrem autoatendimento, estoque, campeonatos e IA. RNF cobrem LGPD, segurança OWASP, acessibilidade e qualidade de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Rafael (65s): Persistência Poliglota: PostgreSQL para dados financeiros com integridade ACID. MongoDB para dados dinâmicos, schema-less, zero downtime.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(60s): A arquitetura tem 4 camadas. O cliente acessa via HTTPS e WebSocket. O Nginx faz proxy reverso e rate limiting. O ASP.NET Core 8 processa a lógica de negócio. O SignalR entrega os eventos em menos de 50ms. Na base, PostgreSQL para dados relacionais e MongoDB para dados dinâmicos.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(55s): Para LGPD: Art.46 com JWT HttpOnly e audit_logs. Art.18 com painel de titulares. Reinaldo: 9/9 testes TDD passando, 80% cobertura. Aldenor: Mobile-First, PWA instalável. Rickson: VLibras, Gemini IA, fluxo QR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Eduardo (40s): Entregamos 15 RF, 12 RNF, 9/9 testes passando e conformidade LGPD. Sistema cloud-native real, com código em produção. Agradecemos a banca e passamos à demonstração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6576"/>
            <a:ext cx="214884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0"/>
            <a:ext cx="98755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 PAULISTA – UNIP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914400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de Análise e Desenvolvimento de Sistemas – 3º Semestre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71600" y="12984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Taino – R.A.: _____________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371600" y="15727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Reinaldo – R.A.: _____________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371600" y="18470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Aldenor Dantas – R.A.: _____________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92240" y="12984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Rickson – R.A.: _____________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92240" y="15727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– R.A.: _____________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92240" y="18470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Hugo – R.A.: _____________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4400" y="2212848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2304288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SOFTNERD CARDGAMESTORE: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PARA LOJAS DE CARD GAMES COMPETITIVOS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14400" y="3447288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0" y="3538728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apresentado como requisito parcial para avaliação na disciplina Projeto Integrado Multidisciplinar III (PIM III),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Curso de Análise e Desenvolvimento de Sistemas da Universidade Paulista – UNIP.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Orientador(a): Prof(a). ____________________________________________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14400" y="4553712"/>
            <a:ext cx="10332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914400" y="464515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Paulo  ·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6576"/>
            <a:ext cx="214884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" y="0"/>
            <a:ext cx="8961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INTRODUÇÃO, JUSTIFICATIVA E OBJETIVOS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052560" y="0"/>
            <a:ext cx="822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1380744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Lojas especializadas em card games (TCG) carecem de soluções tecnológicas integradas. O atendimento simultâneo de balcão e mesas, o controle manual de estoque e a ausência de plataformas de fidelização comprometem a operação. O Brasil conta com mais de 8.000 lojas especializadas sem sistema próprio de gestão (Fonte: ABCOMGAMES, 2024).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228600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377440"/>
            <a:ext cx="11247120" cy="347472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37744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2798064"/>
            <a:ext cx="112471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um sistema web cloud-native para gestão de lojas de card games, integrando autoatendimento por QR Code, controle de estoque, gestão de campeonatos, fidelização de clientes e conformidade com a LGPD (Lei n. 13.709/2018).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14400" y="361188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703320"/>
            <a:ext cx="11247120" cy="34747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70332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4133088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32688" y="4133088"/>
            <a:ext cx="10698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módulo de autoatendimento via QR Code com atualização em tempo real (&lt; 50 ms) utilizando SignalR WebSocket;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4608576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32688" y="4608576"/>
            <a:ext cx="10698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persistência poliglota com PostgreSQL 16 (dados relacionais/financeiros) e MongoDB 7 (dados dinâmicos/comportamentais);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920" y="508406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32688" y="5084064"/>
            <a:ext cx="10698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Garantir conformidade com a LGPD: audit_logs (Art. 46), painel de titulares (Art. 18) e autenticação OWASP (JWT HttpOnly);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" y="5559552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9E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32688" y="5559552"/>
            <a:ext cx="10698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interface Mobile-First com acessibilidade VLibras e assistente de IA (Google Gemini 2.0 Flash).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6576"/>
            <a:ext cx="214884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" y="0"/>
            <a:ext cx="8961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LEVANTAMENTO DE REQUISITOS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052560" y="0"/>
            <a:ext cx="822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Hugo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4864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6634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Funcional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Cadastro e autenticação de usuários (CPF, WhatsApp, BCrypt)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Autoatendimento via QR Code único por mesa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Abertura, itens e fechamento de comandas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Painel do balcão em tempo real (SignalR &lt; 50 ms)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estoque com alertas de quantidade mínima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Fidelização: acúmulo e resgate de pontos por compra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RF07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Gestão de campeonatos TCG com inscrição online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0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RF08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Assistente IA (Gemini 2.0 Flash) para dúvidas sobre produtos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215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96012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Não-Funcional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Disponibilidade ≥ 99,9% (SLA de produção em VPS)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RNF02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Latência de notificações em tempo real &lt; 50 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com LGPD — Lei n. 13.709/2018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RNF04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Autenticação segura: JWT HttpOnly (OWASP Top 10 A02)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RNF05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Acessibilidade: VLibras + WCAG 2.1 AA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RNF06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Containerização: Docker Compose + Nginx (VPS Ubuntu)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RNF07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Instalabilidade: PWA sem App Store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653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RNF08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de testes ≥ 80% nos módulos críticos (TDD xUnit)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5C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0" y="6144768"/>
            <a:ext cx="12198096" cy="713232"/>
          </a:xfrm>
          <a:prstGeom prst="rect">
            <a:avLst/>
          </a:prstGeom>
          <a:solidFill>
            <a:srgbClr val="EEF4FF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57200" y="6144768"/>
            <a:ext cx="11338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de levantamento: entrevistas com proprietários de lojas TCG, análise de sistemas concorrentes e revisão de requisitos de conformidade LGPD.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6576"/>
            <a:ext cx="214884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" y="0"/>
            <a:ext cx="8961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MODELAGEM – BANCO DE DADOS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0" y="0"/>
            <a:ext cx="11887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• Hugo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932688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arquitetural: Persistência Poliglota — banco relacional para dados financeiros; banco NoSQL para dados dinâmicos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65760" y="1389888"/>
            <a:ext cx="5166360" cy="4663440"/>
          </a:xfrm>
          <a:prstGeom prst="rect">
            <a:avLst/>
          </a:prstGeom>
          <a:solidFill>
            <a:srgbClr val="EEF4FF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1389888"/>
            <a:ext cx="5166360" cy="438912"/>
          </a:xfrm>
          <a:prstGeom prst="rect">
            <a:avLst/>
          </a:prstGeom>
          <a:solidFill>
            <a:srgbClr val="1A4E7A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1389888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  PostgreSQL 16  –  Dados Relacionais (SQL)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1920240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financeiros e operacionais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Integridade referencial via FK + triggers (ACID)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2624328"/>
            <a:ext cx="489204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63347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283464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nome | cpf_hash | whatsapp | senha_hash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02920" y="3127248"/>
            <a:ext cx="489204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13639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8640" y="333756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mesa_id FK | usuario_id FK | status | total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02920" y="3630168"/>
            <a:ext cx="489204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63931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itens_comanda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48640" y="384048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comanda_id FK | produto_id FK | qtd | preco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02920" y="4133088"/>
            <a:ext cx="489204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414223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48640" y="434340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produto | quantidade | qtd_minima | updated_at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02920" y="4636008"/>
            <a:ext cx="489204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464515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campeonatos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48640" y="484632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nome | data | max_inscritos | status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02920" y="5138928"/>
            <a:ext cx="489204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514807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48640" y="534924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PK | usuario_id FK | acao | ip_hash | created_at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989320" y="1389888"/>
            <a:ext cx="0" cy="4663440"/>
          </a:xfrm>
          <a:prstGeom prst="line">
            <a:avLst/>
          </a:prstGeom>
          <a:noFill/>
          <a:ln w="12700">
            <a:solidFill>
              <a:srgbClr val="B45309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5715000" y="3474720"/>
            <a:ext cx="82296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15000" y="34747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6675120" y="1389888"/>
            <a:ext cx="5166360" cy="4663440"/>
          </a:xfrm>
          <a:prstGeom prst="rect">
            <a:avLst/>
          </a:prstGeom>
          <a:solidFill>
            <a:srgbClr val="F0FDF4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675120" y="1389888"/>
            <a:ext cx="5166360" cy="438912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66560" y="1389888"/>
            <a:ext cx="4983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  MongoDB 7  –  Dados Dinâmicos (NoSQL)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812280" y="1920240"/>
            <a:ext cx="4892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dinâmicos e comportamentais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Schema-less: zero downtime em evoluções de schema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812280" y="2624328"/>
            <a:ext cx="48920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58000" y="263347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858000" y="283464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apelido | avatar_url | preferencias {}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812280" y="3127248"/>
            <a:ext cx="48920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858000" y="313639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pontuacao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858000" y="333756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pontos_total | nivel | historico []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812280" y="3630168"/>
            <a:ext cx="48920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858000" y="363931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inscricoes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858000" y="384048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campeonato_id | deck_list [] | status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812280" y="4133088"/>
            <a:ext cx="48920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858000" y="414223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conquistas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6858000" y="434340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tipo | descricao | data_desbloqueio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812280" y="4636008"/>
            <a:ext cx="48920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858000" y="4645152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chat_sessions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6858000" y="4846320"/>
            <a:ext cx="4800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_id | usuario_id | mensagens [] | contexto_tcg | ia_model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0" y="6144768"/>
            <a:ext cx="12198096" cy="713232"/>
          </a:xfrm>
          <a:prstGeom prst="rect">
            <a:avLst/>
          </a:prstGeom>
          <a:solidFill>
            <a:srgbClr val="EEF4FF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57200" y="6144768"/>
            <a:ext cx="11338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PostgreSQL: ACID, FK e triggers garantem integridade financeira.  MongoDB: schema-less permite evolução sem migration — zero risco em produção.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6576"/>
            <a:ext cx="214884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" y="0"/>
            <a:ext cx="8961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 SISTEMA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0" y="0"/>
            <a:ext cx="16459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Taino • Reinaldo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" y="914400"/>
            <a:ext cx="11612880" cy="539496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274320" y="914400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 ·  VPS Ubuntu  ·  NGINX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" y="1261872"/>
            <a:ext cx="11247120" cy="1170432"/>
          </a:xfrm>
          <a:prstGeom prst="rect">
            <a:avLst/>
          </a:prstGeom>
          <a:solidFill>
            <a:srgbClr val="DBEAFE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1261872"/>
            <a:ext cx="11247120" cy="36576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126187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APRESENTAÇÃO  —  CLIENTE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167335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Next.js 14 + TypeScript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94360" y="191109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 ·  Mobile-First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" y="211226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(PWA)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251960" y="1307592"/>
            <a:ext cx="0" cy="1078992"/>
          </a:xfrm>
          <a:prstGeom prst="line">
            <a:avLst/>
          </a:prstGeom>
          <a:noFill/>
          <a:ln w="12700">
            <a:solidFill>
              <a:srgbClr val="0F9ED5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4343400" y="167335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🔲  QR Code por Mesa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343400" y="191109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Quick-Login: CPF + WhatsApp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343400" y="211226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escopos: /admin /mesa /cliente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001000" y="1307592"/>
            <a:ext cx="0" cy="1078992"/>
          </a:xfrm>
          <a:prstGeom prst="line">
            <a:avLst/>
          </a:prstGeom>
          <a:noFill/>
          <a:ln w="12700">
            <a:solidFill>
              <a:srgbClr val="0F9ED5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8092440" y="167335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♿  VLibras (WCAG 2.1 AA)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092440" y="191109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Google Gemini 2.0 Flash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092440" y="211226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9,7M surdos — IA para TCG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" y="2478024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5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 /  WebSocket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099048" y="2450592"/>
            <a:ext cx="0" cy="219456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7200" y="2715768"/>
            <a:ext cx="11247120" cy="713232"/>
          </a:xfrm>
          <a:prstGeom prst="rect">
            <a:avLst/>
          </a:prstGeom>
          <a:solidFill>
            <a:srgbClr val="FEF9C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2715768"/>
            <a:ext cx="1124712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" y="271576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 —  NGINX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Proxy Reverso  (HTTP/WS → Back-end)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Terminação SSL/TLS  (HTTPS)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21792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Rate Limiting: 200 req/min API  ·  5 logins/min/IP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905256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Load balancing ready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57200" y="3474720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5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 /  WS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099048" y="3447288"/>
            <a:ext cx="0" cy="201168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7200" y="3703320"/>
            <a:ext cx="7132320" cy="1600200"/>
          </a:xfrm>
          <a:prstGeom prst="rect">
            <a:avLst/>
          </a:prstGeom>
          <a:solidFill>
            <a:srgbClr val="EEF4FF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7200" y="3703320"/>
            <a:ext cx="7132320" cy="365760"/>
          </a:xfrm>
          <a:prstGeom prst="rect">
            <a:avLst/>
          </a:prstGeom>
          <a:solidFill>
            <a:srgbClr val="1A4E7A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2920" y="37033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  —  ASP.NET Core 8  (C#)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30352" y="41422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Controllers: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956816" y="414223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AuthController, ComandaController, EstoqueController, CampeonatoController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30352" y="45079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Services: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1956816" y="450799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rules: JWT, Comanda, Estoque, Gamificação, LGPD audit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30352" y="487375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4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Repositories: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1956816" y="487375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 Core (PG) + MongoDB.Driver — padrão Repository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772400" y="3703320"/>
            <a:ext cx="3931920" cy="16002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72400" y="3703320"/>
            <a:ext cx="393192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81812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SignalR Hub  (WebSocket)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7818120" y="41330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Latência &lt; 50 ms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7818120" y="446227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do cliente → balcão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tempo real — sem refresh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1645920" y="53400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2331720" y="5321808"/>
            <a:ext cx="0" cy="201168"/>
          </a:xfrm>
          <a:prstGeom prst="line">
            <a:avLst/>
          </a:prstGeom>
          <a:noFill/>
          <a:ln w="12700">
            <a:solidFill>
              <a:srgbClr val="1A5C1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846320" y="534009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MongoDB.Driver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5623560" y="5321808"/>
            <a:ext cx="0" cy="201168"/>
          </a:xfrm>
          <a:prstGeom prst="line">
            <a:avLst/>
          </a:prstGeom>
          <a:noFill/>
          <a:ln w="12700">
            <a:solidFill>
              <a:srgbClr val="1A5C1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57200" y="5568696"/>
            <a:ext cx="5120640" cy="804672"/>
          </a:xfrm>
          <a:prstGeom prst="rect">
            <a:avLst/>
          </a:prstGeom>
          <a:solidFill>
            <a:srgbClr val="DBEAFE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57200" y="5568696"/>
            <a:ext cx="5120640" cy="329184"/>
          </a:xfrm>
          <a:prstGeom prst="rect">
            <a:avLst/>
          </a:prstGeom>
          <a:solidFill>
            <a:srgbClr val="1A4E7A"/>
          </a:solidFill>
          <a:ln w="12700">
            <a:solidFill>
              <a:srgbClr val="1A4E7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02920" y="556869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  PostgreSQL 16  —  SQL Relacional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502920" y="59436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 · comandas · itens_comanda · estoque · campeonatos · audit_logs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5852160" y="5568696"/>
            <a:ext cx="5120640" cy="804672"/>
          </a:xfrm>
          <a:prstGeom prst="rect">
            <a:avLst/>
          </a:prstGeom>
          <a:solidFill>
            <a:srgbClr val="DCFCE7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852160" y="5568696"/>
            <a:ext cx="5120640" cy="329184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897880" y="556869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  MongoDB 7  —  NoSQL Schema-less</a:t>
            </a:r>
            <a:endParaRPr lang="en-US" sz="1050" dirty="0"/>
          </a:p>
        </p:txBody>
      </p:sp>
      <p:sp>
        <p:nvSpPr>
          <p:cNvPr id="64" name="Text 61"/>
          <p:cNvSpPr/>
          <p:nvPr/>
        </p:nvSpPr>
        <p:spPr>
          <a:xfrm>
            <a:off x="5897880" y="59436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5C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perfis · pontuacao · inscricoes · conquistas · chat_sessions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6576"/>
            <a:ext cx="214884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" y="0"/>
            <a:ext cx="8961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SEGURANÇA, LGPD E QUALIDADE DE SOFTWARE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0"/>
            <a:ext cx="1371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• Reinaldo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960120"/>
            <a:ext cx="7315200" cy="3429000"/>
          </a:xfrm>
          <a:prstGeom prst="rect">
            <a:avLst/>
          </a:prstGeom>
          <a:solidFill>
            <a:srgbClr val="FEF9C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960120"/>
            <a:ext cx="731520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96012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LGPD — LEI N. 13.709/2018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1463040"/>
            <a:ext cx="100584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14630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46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536192" y="146304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técnica dos dados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536192" y="171907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em cookies HttpOnly (nunca localStorage — OWASP A02:2021).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custo 12 para hashing de senha. Rate limiting: 5 tentativas/min por IP.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2395728"/>
            <a:ext cx="100584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39572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46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536192" y="2395728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operações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536192" y="26517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audit_logs: registra ação, hash de IP anonimizado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timestamp de toda operação sobre dados pessoais.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3328416"/>
            <a:ext cx="100584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32841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18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536192" y="3328416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Direitos do titular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536192" y="358444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administrativo LGPD: processa requisições de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 e deleção de dados do titular de forma auditável.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65760" y="4498848"/>
            <a:ext cx="7315200" cy="2011680"/>
          </a:xfrm>
          <a:prstGeom prst="rect">
            <a:avLst/>
          </a:prstGeom>
          <a:solidFill>
            <a:srgbClr val="F0FDF4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65760" y="4498848"/>
            <a:ext cx="7315200" cy="384048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" y="4498848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DE SOFTWARE — TDD (Red → Green → Refactor)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493776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 testes passando  ·  Cobertura: 80% (módulos críticos)  ·  xUnit + Moq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7200" y="5303520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86384" y="53035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AuthServiceTests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401568" y="530352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JWT, refresh token e revogação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5559552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86384" y="55595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ComandaServiceTests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401568" y="555955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Abre, fecha e calcula totais de comanda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57200" y="5815584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86384" y="581558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EstoqueServiceTests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3401568" y="5815584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Decrementa estoque e dispara alertas de mínimo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6071616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86384" y="607161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4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CampeonatoServiceTests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3401568" y="6071616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Inscrição, validação de capacidade e gerenciamento de brackets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909560" y="960120"/>
            <a:ext cx="4069080" cy="4572000"/>
          </a:xfrm>
          <a:prstGeom prst="rect">
            <a:avLst/>
          </a:prstGeom>
          <a:solidFill>
            <a:srgbClr val="EEF4FF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909560" y="960120"/>
            <a:ext cx="4069080" cy="384048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0" y="9601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&amp; ACESSIBILIDADE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955280" y="143560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8503920" y="14356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8503920" y="16916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+ TypeScript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responsive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7955280" y="223113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📲</a:t>
            </a:r>
            <a:endParaRPr lang="en-US" sz="2200" dirty="0"/>
          </a:p>
        </p:txBody>
      </p:sp>
      <p:sp>
        <p:nvSpPr>
          <p:cNvPr id="50" name="Text 47"/>
          <p:cNvSpPr/>
          <p:nvPr/>
        </p:nvSpPr>
        <p:spPr>
          <a:xfrm>
            <a:off x="8503920" y="22311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Instalável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8503920" y="24871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como app nativo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App Store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955280" y="302666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♿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8503920" y="30266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VLibras WCAG 2.1 AA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8503920" y="328269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9,7M surdos brasileiros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atendidos (IBGE, 2023)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7955280" y="382219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56" name="Text 53"/>
          <p:cNvSpPr/>
          <p:nvPr/>
        </p:nvSpPr>
        <p:spPr>
          <a:xfrm>
            <a:off x="8503920" y="38221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2.0 Flash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8503920" y="407822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IA para dúvidas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produtos e regras TCG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955280" y="46177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🔲</a:t>
            </a:r>
            <a:endParaRPr lang="en-US" sz="2200" dirty="0"/>
          </a:p>
        </p:txBody>
      </p:sp>
      <p:sp>
        <p:nvSpPr>
          <p:cNvPr id="59" name="Text 56"/>
          <p:cNvSpPr/>
          <p:nvPr/>
        </p:nvSpPr>
        <p:spPr>
          <a:xfrm>
            <a:off x="8503920" y="46177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+ Quick-Login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8503920" y="48737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CPF + WhatsApp — 2 campos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senha prévia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7909560" y="5596128"/>
            <a:ext cx="4069080" cy="822960"/>
          </a:xfrm>
          <a:prstGeom prst="rect">
            <a:avLst/>
          </a:prstGeom>
          <a:solidFill>
            <a:srgbClr val="EEF4FF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909560" y="5596128"/>
            <a:ext cx="4069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Aldenor Dantas  •  Rickson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8096" cy="795528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" y="-91440"/>
            <a:ext cx="1828800" cy="1417320"/>
          </a:xfrm>
          <a:prstGeom prst="rt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420624"/>
            <a:ext cx="640080" cy="6400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9555480" y="0"/>
            <a:ext cx="2697480" cy="1481328"/>
          </a:xfrm>
          <a:prstGeom prst="rtTriangl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6117336"/>
            <a:ext cx="1499616" cy="740664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7808" y="6455664"/>
            <a:ext cx="813816" cy="402336"/>
          </a:xfrm>
          <a:prstGeom prst="triangl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36576"/>
            <a:ext cx="214884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" y="0"/>
            <a:ext cx="8961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 REFERÊNCIAS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0" y="0"/>
            <a:ext cx="11887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C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Eduardo Taino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960120"/>
            <a:ext cx="2011680" cy="13716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RF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65760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Funcionais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670048" y="960120"/>
            <a:ext cx="2011680" cy="1371600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70048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RNF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2670048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Não-Funcionais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974336" y="960120"/>
            <a:ext cx="2011680" cy="13716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74336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974336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Passando (TDD)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278624" y="960120"/>
            <a:ext cx="2011680" cy="13716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78624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✓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278624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 13.709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582912" y="960120"/>
            <a:ext cx="2011680" cy="1371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82912" y="987552"/>
            <a:ext cx="2011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582912" y="1719072"/>
            <a:ext cx="201168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Instalável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App Store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914400" y="242316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112471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251460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2935224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SoftNerd CardGameStore atende ao objetivo geral: um sistema cloud-native integrado que soluciona os três problemas identificados — atendimento, controle e fidelização. A persistência poliglota demonstrou eficiência na separação de responsabilidades por ciclo de vida dos dados. O cumprimento dos artigos 46 e 18 da LGPD, aliado à cobertura de testes de 80%, confirma a maturidade técnica e legal da solução entregue.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14400" y="3886200"/>
            <a:ext cx="10332720" cy="0"/>
          </a:xfrm>
          <a:prstGeom prst="line">
            <a:avLst/>
          </a:prstGeom>
          <a:noFill/>
          <a:ln w="12700">
            <a:solidFill>
              <a:srgbClr val="215F9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" y="3977640"/>
            <a:ext cx="11247120" cy="329184"/>
          </a:xfrm>
          <a:prstGeom prst="rect">
            <a:avLst/>
          </a:prstGeom>
          <a:solidFill>
            <a:srgbClr val="215F9A"/>
          </a:solidFill>
          <a:ln w="12700">
            <a:solidFill>
              <a:srgbClr val="215F9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397764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 (ABNT NBR 6023:2018)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920" y="4379976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BRASIL. Lei n. 13.709, de 14 de agosto de 2018. Lei Geral de Proteção de Dados Pessoais (LGPD). Brasília: Presidência da República, 2018.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02920" y="4700016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 Documentação do ASP.NET Core 8. Redmond, 2024. Disponível em: https://learn.microsoft.com/aspnet/core. Acesso em: 2025.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020056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GLOBAL DEVELOPMENT GROUP. PostgreSQL 16 Documentation. 2024. Disponível em: https://www.postgresql.org/docs/16. Acesso em: 2025.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02920" y="5340096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INC. MongoDB 7.0 Manual. New York, 2024. Disponível em: https://www.mongodb.com/docs/manual. Acesso em: 2025.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5660136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SOMMERVILLE, I. Engenharia de Software. 10. ed. São Paulo: Pearson Education do Brasil, 2019.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5980176"/>
            <a:ext cx="11155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SILBERSCHATZ, A.; KORTH, H. F.; SUDARSHAN, S. Sistema de Banco de Dados. 7. ed. Rio de Janeiro: GEN LTC, 2020.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2026-06-08T14:37:47Z</dcterms:created>
  <dcterms:modified xsi:type="dcterms:W3CDTF">2026-06-08T14:37:47Z</dcterms:modified>
</cp:coreProperties>
</file>