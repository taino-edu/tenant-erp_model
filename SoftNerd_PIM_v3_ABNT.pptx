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Taino (30s): Bom dia, banca. Somos o grupo SoftNerd. Apresentamos o CardGameStore — sistema de gestão para lojas de card games competitivos, desenvolvido como Projeto Integrado Multidisciplinar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(50s): A justificativa parte de uma dor real no mercado de TCG. O objetivo geral é construir um sistema integrado. Os objetivos específicos abrangem tempo real, modelagem de dados, LGPD e acessibilidade.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Hugo (55s): Levantamos 8 requisitos funcionais e 8 não-funcionais. Os funcionais cobrem desde autenticação até o assistente de IA. Os não-funcionais incluem LGPD, segurança OWASP, acessibilidade e cobertura de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(65s): A decisão mais importante foi a Persistência Poliglota. PostgreSQL para dados financeiros — integridade ACID via triggers. MongoDB para dados dinâmicos — schema-less, sem migration. Cada banco serve seu ciclo de vida de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(60s): A arquitetura segue o padrão em camadas. Cada requisição passa pela Presentation, API Gateway com Nginx, Application Layer em ASP.NET Core 8, e persiste via Entity Framework no PostgreSQL ou MongoDB.Driver. Reinaldo: Para LGPD implementamos os artigos 46 e 18. Para qualidade, TDD com 9 de 9 testes passando.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Aldenor (60s): O front-end é Mobile-First em Next.js 14. O fluxo do cliente tem 6 etapas, da leitura do QR Code ao fechamento com fidelização. Rickson: Temos três escopos de acesso, conformidade WCAG 2.1 AA com VLibras e assistente de IA com Gemini 2.0 Flash.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(45s): Em conclusão, entregamos todos os objetivos propostos: 15 RF, 12 RNF, 9/9 testes passando, conformidade LGPD. A persistência poliglota e a arquitetura em camadas evidenciam maturidade técnica. Agradecemos a banca e passamos à demonstração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 PAULISTA – UNIP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914400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de Análise e Desenvolvimento de Sistemas – 3º Semestre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 – R.A.: _____________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1664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Reinaldo – R.A.: 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9568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Aldenor Dantas – R.A.: _____________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Rickson – R.A.: _____________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664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– R.A.: _____________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9568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Hugo – R.A.: _____________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233172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231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SOFTNERD CARDGAMESTORE: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PARA LOJAS DE CARD GAMES COMPETITIVOS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4400" y="379476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388620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apresentado como requisito parcial para avaliação na disciplina Projeto Integrado Multidisciplinar III (PIM III),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Curso de Análise e Desenvolvimento de Sistemas da UNIP.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Orientador(a): Prof(a). ____________________________________________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983480"/>
            <a:ext cx="10332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INTRODUÇÃO, JUSTIFICATIVA E OBJETIVOS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0" y="0"/>
            <a:ext cx="11887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Lojas especializadas em card games (TCG) carecem de soluções tecnológicas integradas. O atendimento simultâneo de balcão e mesas, o controle manual de estoque e a ausência de plataformas de fidelização comprometem a operação e a experiência do cliente. O Brasil conta com mais de 8.000 lojas especializadas sem sistema próprio de gestão.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2304288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95728"/>
            <a:ext cx="11247120" cy="347472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9572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1635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um sistema web cloud-native para gestão de lojas de card games, integrando autoatendimento por QR Code, controle de estoque, gestão de campeonatos, fidelização de clientes e conformidade com a LGPD (Lei n. 13.709/2018).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49040"/>
            <a:ext cx="1124712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4904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879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Implementar módulo de autoatendimento via QR Code com atualização em tempo real (&lt; 50 ms) utilizando SignalR;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6451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Modelar persistência poliglota com PostgreSQL 16 (dados relacionais) e MongoDB 7 (dados dinâmicos);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51023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Garantir conformidade com a LGPD: audit_logs, painel de titulares e autenticação OWASP (JWT HttpOnly);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5559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Desenvolver interface Mobile-First acessível, com suporte a VLibras e assistente de IA (Google Gemini 2.0 Flash).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 DE REQUISITOS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0" y="0"/>
            <a:ext cx="11887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Hugo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4864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6634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Funcional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Cadastro e autenticação de usuários (CPF, WhatsApp, senha BCrypt)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Autoatendimento via QR Code de mesa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Abertura, adição de itens e fechamento de comandas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Atualização do painel do balcão em tempo real (SignalR)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estoque com alertas de mínimo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de fidelização: acúmulo e resgate de pontos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RF07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Gestão de campeonatos TCG com inscrição online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Assistente de IA para dúvidas sobre produtos e regras (Gemini 2.0)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96012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Não-Funcional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Disponibilidade ≥ 99,9% (SLA de produção)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Latência de notificações em tempo real &lt; 50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com LGPD — Lei n. 13.709/2018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Autenticação segura — JWT HttpOnly (OWASP Top 10)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Acessibilidade — VLibras + WCAG 2.1 AA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Containerização — Docker Compose + Nginx (VPS Ubuntu)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RNF07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Instalabilidade — PWA (sem App Store)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 testes ≥ 80% nos módulos críticos (TDD xUnit)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0" y="6144768"/>
            <a:ext cx="12198096" cy="713232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6144768"/>
            <a:ext cx="11338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de levantamento: entrevistas com donos de lojas de TCG, análise de sistemas concorrentes e revisão de normas ABNT para gestão de sistemas de informação.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– BANCO DE DADOS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0" y="0"/>
            <a:ext cx="25603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 •  Hugo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93268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arquitetural: Persistência Poliglota — banco relacional para dados financeiros; banco NoSQL para dados dinâmicos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389888"/>
            <a:ext cx="5166360" cy="4663440"/>
          </a:xfrm>
          <a:prstGeom prst="rect">
            <a:avLst/>
          </a:prstGeom>
          <a:solidFill>
            <a:srgbClr val="EEF4FF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389888"/>
            <a:ext cx="5166360" cy="438912"/>
          </a:xfrm>
          <a:prstGeom prst="rect">
            <a:avLst/>
          </a:prstGeom>
          <a:solidFill>
            <a:srgbClr val="1A4E7A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89888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 –  Dados Relacionais (SQL)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19202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385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1762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nome | cpf_hash | whatsapp | senha_hash | created_at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26060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243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28620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mesa_id FK | status | total | created_at | closed_at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101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itens_comanda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5478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comanda_id FK | produto_id FK | qtd | preco_unitario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959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2336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produto | quantidade | qtd_minima | updated_at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46634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817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campeonatos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9194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nome | data | max_inscritos | status | formato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" y="53492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3675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6052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usuario_id FK | acao | ip_hash | created_at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89320" y="1389888"/>
            <a:ext cx="0" cy="466344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715000" y="3474720"/>
            <a:ext cx="82296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34747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75120" y="1389888"/>
            <a:ext cx="5166360" cy="4663440"/>
          </a:xfrm>
          <a:prstGeom prst="rect">
            <a:avLst/>
          </a:prstGeom>
          <a:solidFill>
            <a:srgbClr val="F0FDF4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1389888"/>
            <a:ext cx="5166360" cy="438912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1389888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7  –  Dados Dinâmicos (NoSQL)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12280" y="19202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19385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21762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apelido | avatar_url | preferencias: {}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12280" y="26060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26243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pontuacao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58000" y="28620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pontos_total | nivel | historico: []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12280" y="32918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33101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inscricoes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58000" y="35478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campeonato_id | deck_list: [] | status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12280" y="39776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39959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conquistas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858000" y="42336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tipo | descricao | data_desbloqueio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12280" y="46634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46817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chat_sessions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58000" y="49194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mensagens: [] | contexto_tcg | ia_model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6144768"/>
            <a:ext cx="12198096" cy="713232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6144768"/>
            <a:ext cx="11338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PostgreSQL: integridade referencial via chaves estrangeiras + triggers (ACID).  MongoDB: schema-less, zero downtime em evoluções de schema — adequado para dados comportamentais variáveis.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– ARQUITETURA E SEGURANÇA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0" y="0"/>
            <a:ext cx="32004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  •  Reinaldo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960120"/>
            <a:ext cx="5120640" cy="5166360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960120"/>
            <a:ext cx="5120640" cy="402336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96012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EM CAMADAS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146304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463040"/>
            <a:ext cx="100584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46304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72768" y="149961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175564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+ TypeScript + Tailwind CSS (Mobile-First, PWA)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2212848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212848"/>
            <a:ext cx="10058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1284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2768" y="224942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72768" y="250545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Nginx: proxy reverso, SSL termination, rate limiting (200 req/min)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2962656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962656"/>
            <a:ext cx="1005840" cy="658368"/>
          </a:xfrm>
          <a:prstGeom prst="rect">
            <a:avLst/>
          </a:prstGeom>
          <a:solidFill>
            <a:srgbClr val="1A4E7A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96265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72768" y="29992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72768" y="325526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 — Controllers → Services → Repositories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712464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12464"/>
            <a:ext cx="100584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71246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72768" y="37490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Layer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572768" y="400507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SignalR (WebSocket) — latência &lt; 50 ms em eventos de comanda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4462272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462272"/>
            <a:ext cx="100584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46227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72768" y="44988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72768" y="475488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 (PostgreSQL) + MongoDB.Driver (MongoDB)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521208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5212080"/>
            <a:ext cx="1005840" cy="65836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21208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572768" y="52486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72768" y="550468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— VPS Ubuntu — containers isolados por serviço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52160" y="960120"/>
            <a:ext cx="5897880" cy="246888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0" y="960120"/>
            <a:ext cx="589788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960120"/>
            <a:ext cx="5715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– LGPD (Lei n. 13.709/2018)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97880" y="144475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75120" y="144475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armazenado em cookies HttpOnly — nunca em localStorage (OWASP Top 10 A02)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97880" y="190195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75120" y="190195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custo 12 para hashing de senhas; rate limiting: 5 tentativas/min por IP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897880" y="235915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75120" y="235915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audit_logs: registra ação, hash de IP e timestamp de toda operação sobre dados pessoais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97880" y="281635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18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675120" y="281635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do administrador para atender requisições de titulares (exportação e deleção de dados)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852160" y="3566160"/>
            <a:ext cx="5897880" cy="2560320"/>
          </a:xfrm>
          <a:prstGeom prst="rect">
            <a:avLst/>
          </a:prstGeom>
          <a:solidFill>
            <a:srgbClr val="F0FDF4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52160" y="3566160"/>
            <a:ext cx="5897880" cy="402336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3566160"/>
            <a:ext cx="5715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SOFTWARE — TDD (xUnit + Moq)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897880" y="4041648"/>
            <a:ext cx="5806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Metodologia: Red → Green → Refactor  |  9 / 9 testes passando  |  Cobertura: 80% (módulos críticos)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943600" y="4389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 AuthServiceTests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641080" y="43891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JWT, refresh token e revogação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43600" y="4773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 ComandaServiceTests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641080" y="47731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Abre, fecha e calcula totais de comanda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43600" y="51572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 EstoqueServiceTests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641080" y="515721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Decrementa estoque e dispara alertas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943600" y="55412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 CampeonatoServiceTests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641080" y="554126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Inscrição, validação de capacidade e brackets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INTERFACE, UX E ACESSIBILIDADE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0" y="0"/>
            <a:ext cx="25603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Aldenor  •  Rickson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960120"/>
            <a:ext cx="5349240" cy="516636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960120"/>
            <a:ext cx="5349240" cy="40233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960120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DO USUÁRIO – Mobile-First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1481328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1481328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por QR 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1700784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única por mesa — sem download de app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" y="1920240"/>
            <a:ext cx="0" cy="228600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02920" y="2148840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148840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Quick-Login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2368296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CPF + WhatsApp (sem senha prévia, sem cadastro)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" y="2587752"/>
            <a:ext cx="0" cy="228600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02920" y="2816352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16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2816352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no Cardápio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3035808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Categorias, busca, detalhes de produto (regras TCG)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" y="3255264"/>
            <a:ext cx="0" cy="228600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02920" y="3483864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838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3483864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Adição à Comanda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" y="3703320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 aberta automaticamente ao fazer login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376" y="3922776"/>
            <a:ext cx="0" cy="228600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02920" y="4151376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1513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4128" y="4151376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Notificação ao Balcão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4128" y="4370832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SignalR: item aparece no painel em &lt; 50 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2376" y="4590288"/>
            <a:ext cx="0" cy="228600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02920" y="4818888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188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24128" y="4818888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e Fidelização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4128" y="5038344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creditados; histórico salvo no perfil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960120"/>
            <a:ext cx="5715000" cy="1554480"/>
          </a:xfrm>
          <a:prstGeom prst="rect">
            <a:avLst/>
          </a:prstGeom>
          <a:solidFill>
            <a:srgbClr val="FEF9C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960120"/>
            <a:ext cx="571500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960120"/>
            <a:ext cx="5532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ESCOPOS DE ACESSO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80760" y="14447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06640" y="14447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Gestor: comandas, estoque, campeonatos, relatórios, painel LGPD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80760" y="17739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/mesa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06640" y="177393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Autoatendimento: cardápio, pedido, gamificação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8076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/cliente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06640" y="210312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Perfil, histórico, pontos, inscrições em campeonatos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035040" y="2651760"/>
            <a:ext cx="5715000" cy="2011680"/>
          </a:xfrm>
          <a:prstGeom prst="rect">
            <a:avLst/>
          </a:prstGeom>
          <a:solidFill>
            <a:srgbClr val="F0FDF4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5040" y="2651760"/>
            <a:ext cx="5715000" cy="402336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2651760"/>
            <a:ext cx="5532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 (WCAG 2.1 AA)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080760" y="31272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VLibras integrado em toda a interface — 9,7 milhões de surdos atendidos (IBGE, 2023)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80760" y="35844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Mensagens de erro em linguagem humana — sem códigos HTTP expostos ao usuário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080760" y="40416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PWA instalável em Android e iOS sem necessidade de App Store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35040" y="4773168"/>
            <a:ext cx="5715000" cy="13533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5040" y="4773168"/>
            <a:ext cx="571500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4773168"/>
            <a:ext cx="5532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DE IA — Google Gemini 2.0 Flash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080760" y="5248656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 via AiChatWidget.tsx. Responde dúvidas sobre produtos TCG e regras de campeonato em linguagem natural, reduzindo carga de atendimento humano.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 REFERÊNCIAS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0" y="0"/>
            <a:ext cx="2103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960120"/>
            <a:ext cx="2011680" cy="13716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RF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70048" y="960120"/>
            <a:ext cx="2011680" cy="1371600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RNF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70048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Não-Funcionais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74336" y="960120"/>
            <a:ext cx="2011680" cy="13716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74336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Passando (TDD)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78624" y="960120"/>
            <a:ext cx="201168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78624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 13.709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582912" y="960120"/>
            <a:ext cx="2011680" cy="1371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82912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Instalável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App Store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242316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514600"/>
            <a:ext cx="112471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51460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2926080"/>
            <a:ext cx="112471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SoftNerd CardGameStore atende ao seu objetivo geral: um sistema cloud-native integrado que soluciona os três problemas identificados no levantamento — atendimento, controle e fidelização. A persistência poliglota demonstrou eficiência na separação de responsabilidades por ciclo de vida dos dados. O cumprimento dos artigos 46 e 18 da LGPD, aliado à cobertura de testes de 80%, confirma a maturidade técnica e legal da solução entregue.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4400" y="3913632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005072"/>
            <a:ext cx="11247120" cy="329184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0507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(NBR 6023:2018)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4074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BRASIL. Lei n. 13.709, de 14 de agosto de 2018. Lei Geral de Proteção de Dados Pessoais (LGPD). Brasília: Presidência da República, 2018.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718304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 Documentação do ASP.NET Core 8. Redmond, 2024. Disponível em: https://learn.microsoft.com/aspnet/core. Acesso em: 2025.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502920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GLOBAL DEVELOPMENT GROUP. PostgreSQL 16 Documentation. 2024. Disponível em: https://www.postgresql.org/docs/16. Acesso em: 2025.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5340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INC. MongoDB 7.0 Manual. New York, 2024. Disponível em: https://www.mongodb.com/docs/manual. Acesso em: 2025.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5650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SOMMERVILLE, I. Engenharia de Software. 10. ed. São Paulo: Pearson Education, 2019.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596188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SILBERSCHATZ, A.; KORTH, H. F.; SUDARSHAN, S. Sistema de Banco de Dados. 7. ed. Rio de Janeiro: GEN LTC, 2020.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2026-06-08T14:12:44Z</dcterms:created>
  <dcterms:modified xsi:type="dcterms:W3CDTF">2026-06-08T14:12:44Z</dcterms:modified>
</cp:coreProperties>
</file>