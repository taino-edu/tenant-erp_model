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Taino (30s): Bom dia, banca. Somos o grupo SoftNerd. Apresentamos o CardGameStore — sistema de gestão cloud-native para lojas de card games competitivos, desenvolvido como PIM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(50s): A justificativa parte de uma dor real no mercado de TCG. O objetivo geral é construir um sistema integrado. Os objetivos específicos abrangem tempo real, modelagem de dados, LGPD e acessibilidade.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(55s): Levantamos 8 requisitos funcionais e 8 não-funcionais. Os funcionais cobrem desde autenticação até o assistente de IA. Os não-funcionais incluem LGPD, segurança OWASP, acessibilidade e cobertura de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(65s): A decisão mais importante foi a Persistência Poliglota. PostgreSQL para dados financeiros — integridade ACID via triggers. MongoDB para dados dinâmicos — schema-less, sem migration. Cada banco serve seu ciclo de vida de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(60s): A arquitetura segue o padrão em camadas. Cada requisição passa pela Presentation, API Gateway com Nginx, Application Layer em ASP.NET Core 8, e persiste via Entity Framework no PostgreSQL ou MongoDB.Driver. Reinaldo: Para LGPD implementamos os artigos 46 e 18. Para qualidade, TDD com 9 de 9 testes passando.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Aldenor (60s): O front-end é Mobile-First em Next.js 14. O fluxo do cliente tem 6 etapas, da leitura do QR Code ao fechamento com fidelização. Rickson: Temos três escopos de acesso, conformidade WCAG 2.1 AA com VLibras e assistente de IA com Gemini 2.0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(45s): Em conclusão, entregamos todos os objetivos propostos: 15 RF, 12 RNF, 9/9 testes passando, conformidade LGPD. A persistência poliglota e a arquitetura em camadas evidenciam maturidade técnica. Agradecemos a banca e passamos à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PAULISTA – UNIP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841248"/>
            <a:ext cx="3200400" cy="1600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514600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Análise e Desenvolvimento de Sistemas – 3º Semestre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29077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– R.A.: _____________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371600" y="31638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Reinaldo – R.A.: _____________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71600" y="341985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Dantas – R.A.: _____________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29077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Rickson – R.A.: _____________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1638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– R.A.: _____________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92240" y="341985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 – R.A.: _____________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4400" y="374904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048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SOFTNERD CARDGAMESTORE: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PARA LOJAS DE CARD GAMES COMPETITIVOS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14400" y="489204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0" y="498348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apresentado como requisito parcial para avaliação na disciplina Projeto Integrado Multidisciplinar III (PIM III), Curso de Análise e Desenvolvimento de Sistemas — UNIP.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Orientador(a): Prof(a). ____________________________________________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14400" y="5833872"/>
            <a:ext cx="10332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INTRODUÇÃO, JUSTIFICATIVA E OBJETIVOS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0"/>
            <a:ext cx="1188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especializadas em card games (TCG) carecem de soluções tecnológicas integradas. O atendimento simultâneo de balcão e mesas, o controle manual de estoque e a ausência de plataformas de fidelização comprometem a operação e a experiência do cliente. O Brasil conta com mais de 8.000 lojas especializadas sem sistema próprio de gestão.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304288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95728"/>
            <a:ext cx="11247120" cy="347472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957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sistema web cloud-native para gestão de lojas de card games, integrando autoatendimento por QR Code, controle de estoque, gestão de campeonatos, fidelização de clientes e conformidade com a LGPD (Lei n. 13.709/2018).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49040"/>
            <a:ext cx="112471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Implementar módulo de autoatendimento via QR Code com atualização em tempo real (&lt; 50 ms) utilizando SignalR;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6451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Modelar persistência poliglota com PostgreSQL 16 (dados relacionais) e MongoDB 7 (dados dinâmicos);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51023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Garantir conformidade com a LGPD: audit_logs, painel de titulares e autenticação OWASP (JWT HttpOnly);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5559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Desenvolver interface Mobile-First acessível, com suporte a VLibras e assistente de IA (Google Gemini 2.0 Flash).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DE REQUISITOS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0"/>
            <a:ext cx="1188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63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Funcional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Cadastro e autenticação de usuários (CPF, WhatsApp, senha BCrypt)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Autoatendimento via QR Code de mesa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Abertura, adição de itens e fechamento de comandas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Atualização do painel do balcão em tempo real (SignalR)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estoque com alertas de mínimo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de fidelização: acúmulo e resgate de pontos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campeonatos TCG com inscrição online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Assistente de IA para dúvidas sobre produtos e regras (Gemini 2.0)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Não-Funcional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Disponibilidade ≥ 99,9% (SLA de produção)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Latência de notificações em tempo real &lt; 50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com LGPD — Lei n. 13.709/2018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Autenticação segura — JWT HttpOnly (OWASP Top 10)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 — VLibras + WCAG 2.1 AA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Containerização — Docker Compose + Nginx (VPS Ubuntu)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Instalabilidade — PWA (sem App Store)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testes ≥ 80% nos módulos críticos (TDD xUnit)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0" y="6144768"/>
            <a:ext cx="12198096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144768"/>
            <a:ext cx="11338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levantamento: entrevistas com donos de lojas de TCG, análise de sistemas concorrentes e revisão de normas ABNT para gestão de sistemas de informação.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– BANCO DE DADOS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0" y="0"/>
            <a:ext cx="25603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 •  Hugo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3268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arquitetural: Persistência Poliglota — banco relacional para dados financeiros; banco NoSQL para dados dinâmicos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389888"/>
            <a:ext cx="5166360" cy="4663440"/>
          </a:xfrm>
          <a:prstGeom prst="rect">
            <a:avLst/>
          </a:prstGeom>
          <a:solidFill>
            <a:srgbClr val="EEF4FF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389888"/>
            <a:ext cx="5166360" cy="438912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8988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 –  Dados Relacionais (SQL)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9202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38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1762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nome | cpf_hash | whatsapp | senha_hash | created_at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6060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243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8620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mesa_id FK | status | total | created_at | closed_at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101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itens_comanda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5478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comanda_id FK | produto_id FK | qtd | preco_unitario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959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2336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produto | quantidade | qtd_minima | updated_at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817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campeonatos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9194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nome | data | max_inscritos | status | formato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489204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367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6052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usuario_id FK | acao | ip_hash | created_at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1389888"/>
            <a:ext cx="0" cy="466344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715000" y="3474720"/>
            <a:ext cx="82296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474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75120" y="1389888"/>
            <a:ext cx="5166360" cy="4663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1389888"/>
            <a:ext cx="5166360" cy="43891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138988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7  –  Dados Dinâmicos (NoSQL)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19202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19385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21762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apelido | avatar_url | preferencias: {}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12280" y="26060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6243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pontuacao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58000" y="28620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pontos_total | nivel | historico: []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12280" y="32918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3101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inscricoes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0" y="35478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campeonato_id | deck_list: [] | status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39776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9959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conquistas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58000" y="42336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tipo | descricao | data_desbloqueio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12280" y="4663440"/>
            <a:ext cx="489204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468172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chat_sessions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0" y="4919472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mensagens: [] | contexto_tcg | ia_model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6144768"/>
            <a:ext cx="12198096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144768"/>
            <a:ext cx="11338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integridade referencial via chaves estrangeiras + triggers (ACID).  MongoDB: schema-less, zero downtime em evoluções de schema — adequado para dados comportamentais variáveis.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– ARQUITETURA E SEGURANÇA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0" y="0"/>
            <a:ext cx="32004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 •  Reinaldo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5120640" cy="5166360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960120"/>
            <a:ext cx="5120640" cy="402336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96012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CAMADAS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46304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463040"/>
            <a:ext cx="100584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4630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2768" y="14996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175564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TypeScript + Tailwind CSS (Mobile-First, PWA)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21284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212848"/>
            <a:ext cx="10058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1284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2768" y="224942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25054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Nginx: proxy reverso, SSL termination, rate limiting (200 req/min)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96265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962656"/>
            <a:ext cx="1005840" cy="658368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6265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2768" y="29992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32552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— Controllers → Services → Repositories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71246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12464"/>
            <a:ext cx="10058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1246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2768" y="37490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Layer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72768" y="400507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(WebSocket) — latência &lt; 50 ms em eventos de comanda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46227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462272"/>
            <a:ext cx="1005840" cy="65836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46227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72768" y="44988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72768" y="475488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 (PostgreSQL) + MongoDB.Driver (MongoDB)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21208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5212080"/>
            <a:ext cx="1005840" cy="6583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2120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72768" y="52486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72768" y="55046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— VPS Ubuntu — containers isolados por serviço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52160" y="960120"/>
            <a:ext cx="5897880" cy="24688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960120"/>
            <a:ext cx="589788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960120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– LGPD (Lei n. 13.709/2018)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97880" y="14447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14447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armazenado em cookies HttpOnly — nunca em localStorage (OWASP Top 10 A02)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97880" y="19019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19019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custo 12 para hashing de senhas; rate limiting: 5 tentativas/min por IP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97880" y="23591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23591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audit_logs: registra ação, hash de IP e timestamp de toda operação sobre dados pessoais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281635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18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75120" y="281635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administrador para atender requisições de titulares (exportação e deleção de dados)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52160" y="3566160"/>
            <a:ext cx="589788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0" y="3566160"/>
            <a:ext cx="5897880" cy="402336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3566160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SOFTWARE — TDD (xUnit + Moq)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897880" y="4041648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Red → Green → Refactor  |  9 / 9 testes passando  |  Cobertura: 80% (módulos críticos)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43600" y="4389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AuthServiceTests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641080" y="43891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JWT, refresh token e revogação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4773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ComandaServiceTests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641080" y="47731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Abre, fecha e calcula totais de comanda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43600" y="51572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EstoqueServiceTests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641080" y="515721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Decrementa estoque e dispara alertas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43600" y="5541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 CampeonatoServiceTests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641080" y="554126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Inscrição, validação de capacidade e brackets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INTERFACE, UX E ACESSIBILIDADE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0" y="0"/>
            <a:ext cx="25603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 •  Rickson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5349240" cy="516636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960120"/>
            <a:ext cx="5349240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96012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USUÁRIO – Mobile-First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1481328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48132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por QR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170078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única por mesa — sem download de app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" y="1920240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02920" y="2148840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14884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Quick-Login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368296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 + WhatsApp (sem senha prévia, sem cadastro)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" y="2587752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02920" y="2816352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281635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no Cardápio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03580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Categorias, busca, detalhes de produto (regras TCG)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" y="3255264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02920" y="3483864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838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348386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Adição à Comanda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" y="370332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 aberta automaticamente ao fazer login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" y="3922776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02920" y="4151376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51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" y="4151376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Notificação ao Balcão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" y="437083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SignalR: item aparece no painel em &lt; 50 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2376" y="4590288"/>
            <a:ext cx="0" cy="228600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02920" y="4818888"/>
            <a:ext cx="438912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18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24128" y="481888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e Fidelização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" y="503834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creditados; histórico salvo no perfil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960120"/>
            <a:ext cx="5715000" cy="1554480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960120"/>
            <a:ext cx="571500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960120"/>
            <a:ext cx="5532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ESCOPOS DE ACESSO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14447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Gestor: comandas, estoque, campeonatos, relatórios, painel LGPD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80760" y="17739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/mesa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06640" y="177393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Autoatendimento: cardápio, pedido, gamificação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8076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/cliente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06640" y="210312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Perfil, histórico, pontos, inscrições em campeonatos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35040" y="2651760"/>
            <a:ext cx="571500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2651760"/>
            <a:ext cx="5715000" cy="402336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651760"/>
            <a:ext cx="5532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 (WCAG 2.1 AA)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80760" y="31272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VLibras integrado em toda a interface — 9,7 milhões de surdos atendidos (IBGE, 2023)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80760" y="3584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Mensagens de erro em linguagem humana — sem códigos HTTP expostos ao usuário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80760" y="40416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 instalável em Android e iOS sem necessidade de App Store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35040" y="4773168"/>
            <a:ext cx="5715000" cy="13533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4773168"/>
            <a:ext cx="57150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4773168"/>
            <a:ext cx="5532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IA — Google Gemini 2.0 Flash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080760" y="5248656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 via AiChatWidget.tsx. Responde dúvidas sobre produtos TCG e regras de campeonato em linguagem natural, reduzindo carga de atendimento humano.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REFERÊNCIAS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0" y="0"/>
            <a:ext cx="2103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960120"/>
            <a:ext cx="2011680" cy="13716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70048" y="960120"/>
            <a:ext cx="2011680" cy="1371600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RNF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70048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Não-Funcionais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74336" y="960120"/>
            <a:ext cx="2011680" cy="13716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74336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Passando (TDD)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78624" y="960120"/>
            <a:ext cx="201168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78624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13.709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82912" y="960120"/>
            <a:ext cx="2011680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82912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Instalável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App Store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242316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514600"/>
            <a:ext cx="112471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1460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926080"/>
            <a:ext cx="11247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SoftNerd CardGameStore atende ao seu objetivo geral: um sistema cloud-native integrado que soluciona os três problemas identificados no levantamento — atendimento, controle e fidelização. A persistência poliglota demonstrou eficiência na separação de responsabilidades por ciclo de vida dos dados. O cumprimento dos artigos 46 e 18 da LGPD, aliado à cobertura de testes de 80%, confirma a maturidade técnica e legal da solução entregue.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3913632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05072"/>
            <a:ext cx="11247120" cy="329184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0507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(NBR 6023:2018)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4074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Lei n. 13.709, de 14 de agosto de 2018. Lei Geral de Proteção de Dados Pessoais (LGPD). Brasília: Presidência da República, 2018.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71830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 Documentação do ASP.NET Core 8. Redmond, 2024. Disponível em: https://learn.microsoft.com/aspnet/core. Acesso em: 2025.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50292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GLOBAL DEVELOPMENT GROUP. PostgreSQL 16 Documentation. 2024. Disponível em: https://www.postgresql.org/docs/16. Acesso em: 2025.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5340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INC. MongoDB 7.0 Manual. New York, 2024. Disponível em: https://www.mongodb.com/docs/manual. Acesso em: 2025.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5650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I. Engenharia de Software. 10. ed. São Paulo: Pearson Education, 2019.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596188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SILBERSCHATZ, A.; KORTH, H. F.; SUDARSHAN, S. Sistema de Banco de Dados. 7. ed. Rio de Janeiro: GEN LTC, 2020.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2026-06-08T14:20:46Z</dcterms:created>
  <dcterms:modified xsi:type="dcterms:W3CDTF">2026-06-08T14:20:46Z</dcterms:modified>
</cp:coreProperties>
</file>